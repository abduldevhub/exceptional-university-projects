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50" r:id="rId3"/>
    <p:sldId id="382" r:id="rId4"/>
    <p:sldId id="351" r:id="rId5"/>
    <p:sldId id="383" r:id="rId6"/>
    <p:sldId id="384" r:id="rId7"/>
    <p:sldId id="353" r:id="rId8"/>
    <p:sldId id="362" r:id="rId9"/>
    <p:sldId id="263" r:id="rId10"/>
    <p:sldId id="385" r:id="rId11"/>
    <p:sldId id="257" r:id="rId12"/>
    <p:sldId id="260" r:id="rId13"/>
    <p:sldId id="386" r:id="rId14"/>
    <p:sldId id="387" r:id="rId15"/>
    <p:sldId id="262" r:id="rId16"/>
    <p:sldId id="388" r:id="rId17"/>
    <p:sldId id="389" r:id="rId18"/>
    <p:sldId id="390" r:id="rId19"/>
    <p:sldId id="39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30" units="cm"/>
          <inkml:channel name="Y" type="integer" min="-1200" max="1200" units="cm"/>
          <inkml:channel name="T" type="integer" max="2.14748E9" units="dev"/>
        </inkml:traceFormat>
        <inkml:channelProperties>
          <inkml:channelProperty channel="X" name="resolution" value="63.90728" units="1/cm"/>
          <inkml:channelProperty channel="Y" name="resolution" value="126.98412" units="1/cm"/>
          <inkml:channelProperty channel="T" name="resolution" value="1" units="1/dev"/>
        </inkml:channelProperties>
      </inkml:inkSource>
      <inkml:timestamp xml:id="ts0" timeString="2026-02-07T00:39:06.3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19162 5230 0,'0'-30'47,"0"0"-16,30 30-15,-1 0-1,1 0 32,0 0-47,0 0 16,29-29-1,-29 29-15,-1 0 16,-29-30-16,30 30 78,0 0-78,-30 30 141,0-1-141,0 1 15,0 0 1,0 0 0,0 29-1,0-29 1,0-1-1,0 31 17,0-30-17,0-1 1,0 1 46,0 0-46,0-1 0,-30-29-1,0 0 1,1 0-16,-31 0 31,31 30-31,-1-30 31,0 0-15,0 0 15,1 0-31,-1 0 32,0 0-17,30 30 95,0 0-95,0-1-15,0 1 16,0 0-1,30-1 1,-30 1 0,0 0-16,0 0 15,0-1 1,0 1 0,0 0-1,0 0 32,0-1-31</inkml:trace>
  <inkml:trace contextRef="#ctx0" brushRef="#br0" timeOffset="1650.25">19311 6448 0,'0'-29'297,"-30"29"-172,30-30-109,-30 30-1,0 0 17,30-30-17,-29 30 141,58 30 16,-29 0-156,30-30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30" units="cm"/>
          <inkml:channel name="Y" type="integer" min="-1200" max="1200" units="cm"/>
          <inkml:channel name="T" type="integer" max="2.14748E9" units="dev"/>
        </inkml:traceFormat>
        <inkml:channelProperties>
          <inkml:channelProperty channel="X" name="resolution" value="63.90728" units="1/cm"/>
          <inkml:channelProperty channel="Y" name="resolution" value="126.98412" units="1/cm"/>
          <inkml:channelProperty channel="T" name="resolution" value="1" units="1/dev"/>
        </inkml:channelProperties>
      </inkml:inkSource>
      <inkml:timestamp xml:id="ts0" timeString="2026-02-07T00:46:10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9388 9212 0,'30'0'125,"0"0"-125,-1 0 15,1 30 1,119 59-1,-120-29-15,1-31 16,-30 1-16,59 0 16,-29-1-16,0 31 15,-1-60-15,1 0 16,0 30 0,-30-1-1,0 1-15,30-30 16,-1 30-16,1-30 15,-30 29 1,30-29 0,-1 0-1,1 0-15,-30 30 16,30 0 0,0 0-1,-1-1-15,1-29 16,0 30-16,-1-30 15,1-30 79,-30 1-94,30-31 16,0 60-16,29-59 15,-59 29-15,59-29 16,-29 29-16,-30 0 16,30 0-16,-1 1 15,1-1-15,0 0 16,0-29 0,-1-1-16,1 31 15,0-31-15,-1 30 16,-29 1-16,0-1 15,30 30 1,0 0-16</inkml:trace>
  <inkml:trace contextRef="#ctx0" brushRef="#br0" timeOffset="1466.36">10279 9896 0,'0'-30'0,"0"60"141,30-1-126,-30 90-15,0-59 16,30-1-1,-30 1-15,0 29 16,30 0-16,-30-30 31,29-29-31,-29 0 16,0 0-16,0-1 16</inkml:trace>
  <inkml:trace contextRef="#ctx0" brushRef="#br0" timeOffset="2909.04">11497 9212 0,'0'89'78,"30"-29"-63,-30-30 1,0 59-16,0 0 16,0-30-16,0 1 0,0 29 15,0-30 1,0 1-16,0-31 15,0 31-15,0-1 16,0-29-16,0 0 16,0 29-1,0-29 1,0 29-16,0-29 16,0 0-1,0 0 1,30-1-1,0-29 17,-1 0-1,1 0-15,0 0 15,-1 0-16,1 30 1,29-30 0,-29 0-16,0 0 15,29 30-15,-29-30 16,29 0 0,-88-60 93,-31-118-93</inkml:trace>
  <inkml:trace contextRef="#ctx0" brushRef="#br0" timeOffset="3735.25">11616 9301 0,'30'0'125,"0"0"-109,-1 0-1,60 0-15,-29 0 16,-30 0 0,29 0-1,0 30 1,1-30-16,-1 0 15,-29 0-15,0 0 16,-1 0-16,1 0 31</inkml:trace>
  <inkml:trace contextRef="#ctx0" brushRef="#br0" timeOffset="4685.54">11646 9747 0,'30'0'156,"-1"0"-141,1 0-15,0 0 32,29 0-32,30 0 15,-59 0 1,0 0 0,-1 0-16,1 0 15,0 0 1,0 0 15,-1 0-31,1 0 31</inkml:trace>
  <inkml:trace contextRef="#ctx0" brushRef="#br0" timeOffset="7249.92">13339 9420 0,'-29'0'63,"-1"-29"-32,0 29-31,0-30 15,1 30 1,-1-30 0,0 30-1,1 0 1,-1 0 0,0 0-16,0 0 15,1 0 1,-1 0-16,-29 0 15,29 0 1,0 0 0,1 0 31,-1 0 31,0 0-78,30 30 15,0 0 1,-30-30 0,1 0-1,-1 0 1,0 0 15,1 29 0,29 1 32,0 29-48,59 1 17,-29-30-32,-1-30 62,1 29-62,0-29 31,0 30-31,-1-30 32,-29 30-32,30-30 47,0 0 31,-1 0-63,1 0 1,0 29-16,-30 1 16,29 0-1,-29 0-15,0-1 16,0 1 31,60 0-47,-60-1 47,30 1-47,-30 0 31,29-30-16,1 59-15,-30-29 16,0 0 0,30-30-1,-30 29 32,29 31-31,-29-30 31,30-1-32,-30 1 17,0 0-32,0 0 31,0-1-16,0 1 1,0 0 0,-30-30 15,30 29-31,-29-29 16,29 30 15,-30-30-16,0 0-15,1 0 32,-1 0-17,0 0 1,0 0 0,1 0 15,-1 0-31,0 0 15,-29 0 1,29 0 0,1 0-1,-31 0 1,30 0-16,-29-30 16,29 30-1,1 0-15,-1-29 16,0-31-16,0 31 15,1-1 1,29 0 0</inkml:trace>
  <inkml:trace contextRef="#ctx0" brushRef="#br0" timeOffset="34347.89">3328 10044 0,'30'0'63,"-1"0"-47,1 0-1,0 0 1,-1 0-16,1 0 15,29 0-15,1 0 16,-1 0 0,-29 0-1,89 0-15,-60 0 16,1 0-16,29 0 16,-30 0-16,30 0 15,-59 0-15,29 0 16,1 0-16,29 0 15,-30 0-15,1 0 16,59 0-16,-60 0 16,30 0-16,0 0 15,-29 0-15,88 0 16,-88 0-16,-1 0 16,-29 0-16,0 0 15,29 0-15,-29 0 16,59 0-16,-30 0 15,-29 0-15,29 0 16,30 0-16,-29 0 16,29 0-16,-59 0 15,29 0-15,-29 0 16,-1 0 0,1 0-16,30 0 15,-1 0-15,-29 0 0,29 0 16,1 0-1</inkml:trace>
  <inkml:trace contextRef="#ctx0" brushRef="#br0" timeOffset="147426.72">22578 8440 0,'0'-30'78,"-29"0"-62,-1 0-1,30-29 1,0-1-1,0 31 1,0-1-16,-30 0 0,30 1 16,-29-31-16,29 1 15,0 29 1,0 0 0,0 1 15,0-1-31,0 0 31,0 0-15,-30 1-16,0-1 15,0 0 17,-29 1-17,29-1 16,30 0-31,-29 0 16,-1 1-16,-30-1 16,31 30-16,29-30 15,-30 30-15,0 0 16,1 0 0,-1 0-1,30-30-15,-30 30 16,0 0-16,1 0 15,-1 0 1,0 0 0,1 0-16,-1 0 15,0 0-15,1 0 16,-1 0 15,0 0-15,0 30-1,1-30 17,29 30-32,-30 0 15,0-1 1,30 1-16,0 0 16,0 0-16,0-1 46,0 1-14,-29 0-1,29 29-15,0-29-1,0 0 1,0-1-1,0 1-15,0 0 16,-30-30 0,30 29-16,0 1 15,0 0 1,0 29 0,0-29-1,0 0-15,0-1 16,0 1-16,0 0 47,0 0-32,0-1 1,0 1-16,0 0 16,0 0-16,0-1 15,0 1-15,0 0 16,0-1-1,0 1-15,0 0 16,0 0-16,0-1 16,0 1-16,0 0 15,0 59-15,30-59 16,-1-1 0,1 1-16,0-30 15,-1 59 1,1-59-1,-30 30-15,30 30 16,0-60-16,-1 29 0,1 1 16,-30 0-1,30-1-15,-1-29 16,1 60-16,29-30 16,-59-1-16,30 1 31,0-30-31,0 0 15,-1 0 1,1 0 0,0 0-1,-1 0 1,1 0-16,0 0 16,0 0-16,-1 0 15,1 0 1,0 0-1,-1 0 1,1 0-16,30-30 16,-1-29-16,-29 29 15,-1 0 1,-29 1-16,0-1 31</inkml:trace>
  <inkml:trace contextRef="#ctx0" brushRef="#br0" timeOffset="149857.26">22727 8410 0,'0'-30'16,"30"30"0,-30-30 77,29 30-61,1 0-17,0 0 16,-1 0 1,1 0-32,0 0 31,0 30-15,-1-30-1,1 0 1,-30 30-1,30 0 1,-1-30 0,1 29-16,-30 1 31,0 0-15,0-1 15,0 1-16,0 0-15,0 29 32,0-29-17,0 0-15,0 29 16,0-29 0,0 0 46,0-1-46,0 1-1,-30-30-15,-29 59 16,0-29 0,29 0-1,0-30 1,0 0-16,30 30 47,-29-30-32,-1 29 1,0-29 15,1 30-31,-1-30 31,0 0-15,0 0 31,1 0-31,-1 0-1,0 0 1</inkml:trace>
  <inkml:trace contextRef="#ctx0" brushRef="#br0" timeOffset="152736.62">14023 4368 0,'29'0'32,"1"0"-1,0 0-15,29 30-1,-29-1 1,-30 31-16,30-1 15,-30 1-15,29-1 16,-29-29-16,30 29 0,-30-29 16,30 59-1,-1-89-15,31 60 16,-31-31 0,-29 1-1,-59-30 173,0 0-188,29 0 15,-89 0-15,60-59 16,29 59-16,-29-30 16,59 0-1,0 0-15,0 1 94,0-1-78,0 0 30,29 30-14,31 30-17,29 0 1,-89-1 0,30 1-1,29 30-15,-29-60 16,-30 29-16,29 1 31,-29 0-15,0-60 109,30-29-110,0 29 1,-1 0-16,1 30 16,0 0-1,-30-30-15,0-29 94,59 29-94,-59 1 16,30-31-16,0 30 15</inkml:trace>
  <inkml:trace contextRef="#ctx0" brushRef="#br0" timeOffset="155066.71">25579 6062 0,'30'0'125,"-1"0"-94,1 0-15,0 0-16,-1 0 31,1 0-15,0 0 0,-1 0-16,1 0 0,0 0 15,0 0 1,-1 0-1,1 30 1,0-30-16,-1 0 16,1 0-16,0 0 15,0 0-15,-1 0 0,1 0 16,0 0 0,-1 0-16,1 0 0,0 0 31,29 0-31,-29 0 0,29 0 31,-29 0-15,0 29-16,-1-29 15,31 0-15,-30 0 16,-1 0-16,1 0 16,0 0-16,-1 0 15,1 0 1,0 0-16,0 0 15,-1 0-15,31 0 16,-1 0-16,0 0 16,1 0-1,-30 0-15,29 0 16,-29 0-16,-1 0 31,1 0-31,0 0 16,0 0-1,-1 0 1,1 0 15,0 0-31,-1 0 16,1 0 0,0 0-16,0 0 15,-1 0-15</inkml:trace>
  <inkml:trace contextRef="#ctx0" brushRef="#br0" timeOffset="156582.24">18895 8945 0,'29'0'16,"1"0"0,0-30 31,-1 30-47,1 0 15,0-30-15,-30 1 31,30 29-31,-1 0 16,1 0 0,0-30-1,-1 30-15,1-30 16,0 30 0,-60 0 140</inkml:trace>
  <inkml:trace contextRef="#ctx0" brushRef="#br0" timeOffset="9338.89">18360 8915 0,'30'0'93,"-1"0"-61,1 0-1,59 0-16,-59 30-15,29-1 16,1-29 0,-1 0-16,-29 0 15,-1 0-15,31 30 16,-30-30-16,-1 0 16,1 0-1,0 0 1,-1 0-16,31 30 31,-30-30-15,-1 0-16,1 0 15,0 30 1,29-30 0,-29 29-1,29-29 1,1 30-16,-31 0 15,1-30 1,0 0-16,-1 0 16,1 0 15,0 0-31,0 0 16,-1 0-1,31 0-15,-31 0 16,1 0-1,30 0 1,-31 0 0,31 0-16,-31 0 15,1 0 1,89 0 0,-89 0-1,-1 0 1,31 0-16,-31 0 15,1 0 1,0 0-16,0 0 31,-60 0 63,-59 0-78,0 0-16,-30 0 15,30 0 1,0-30-16,-1 30 16,-28 0-16,28 0 0,31 0 15,0 0-15,-30 0 16,59 0-16,-30 0 15,31 0-15,-31 0 16,1 0 0,29 0-16,-29 0 15,-1 0-15,31 0 16,-31 0-16,30 0 16,1 0-16,-1 0 15,0 0-15,1 0 16,-1 0-16,0 0 15,-29 0-15,29 0 16,0 0 0,-29 0-16,29 0 15,1 0 1,-1 0 0,0 0 62,30 30-47,30 29-15,29-59-16,-29 0 15,-30 30-15,89-30 0,-89 30 16,89-30-1,-59 0-15,59 0 16,-59 0-16,29 0 16,60 29-16,30 1 15,-90-30-15,60 60 16,0-60-16,-30 0 16,0 0-16,-30 0 0,1 0 15,-1 0 1,-29 0-16,0 0 15,-1 0-15,1-30 16,0 30 0,-1-30-16,1 30 15,0 0 1,-1 0 31,1 0-47,0-30 15,29 30 1,-29 0-16,59 0 16,-29 0-1,-1 0-15,-89 0 110,-118 0-95,29 0-15,0 0 16,0 0-16,30 0 16,-59 0-16,29 0 15,-30 0-15,90 0 16,-1 0-16,-29 0 15,60 0 1,-31 0-16,30 0 16,-29 0-16,29 0 0,1 0 15,-31 0-15,1 0 16,29 0 0,0 0-16,1 0 15,-1 0-15,0 0 31,119 30 79,-29-30-110,29 30 15,0-30-15,-30 0 16,120 30-16,-60-1 16,59 31-16,-59-60 15,59 0-15,30 29 16,-119-29-16,-30 0 16,1 0-16,-31 0 15,1 0-15,0 0 31,-30-29 79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ADEDD-E00B-4475-8710-40F1E898F1C4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F8760F-3DD3-4C3B-9BF2-76AA994DEF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0588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Known as the padding lemma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8760F-3DD3-4C3B-9BF2-76AA994DEFC7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491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like hard-coding one input as a part of the program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8760F-3DD3-4C3B-9BF2-76AA994DEFC7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2753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2D35B-7A81-8064-BA42-4294BEB7B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73EC8-E5C9-FFEB-5AD3-937ACB344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980F098-BF18-274A-A805-8DFAAAFCD0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Kolmogorov complexity </a:t>
                </a:r>
                <a:r>
                  <a:rPr lang="en-CA" dirty="0"/>
                  <a:t>We will say a string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CA" dirty="0"/>
                  <a:t> is random if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</a:rPr>
                      <m:t>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</a:t>
                </a:r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980F098-BF18-274A-A805-8DFAAAFCD0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Kolmogorov complexity </a:t>
                </a:r>
                <a:r>
                  <a:rPr lang="en-CA" dirty="0"/>
                  <a:t>We will say a string </a:t>
                </a:r>
                <a:r>
                  <a:rPr lang="en-CA" i="0" dirty="0">
                    <a:latin typeface="Cambria Math" panose="02040503050406030204" pitchFamily="18" charset="0"/>
                  </a:rPr>
                  <a:t>𝑠</a:t>
                </a:r>
                <a:r>
                  <a:rPr lang="en-CA" dirty="0"/>
                  <a:t> is random if</a:t>
                </a:r>
                <a:r>
                  <a:rPr lang="en-US" dirty="0"/>
                  <a:t> </a:t>
                </a:r>
                <a:r>
                  <a:rPr lang="en-CA" i="0">
                    <a:latin typeface="Cambria Math" panose="02040503050406030204" pitchFamily="18" charset="0"/>
                  </a:rPr>
                  <a:t>𝓚</a:t>
                </a:r>
                <a:r>
                  <a:rPr lang="en-US" b="0" i="0">
                    <a:latin typeface="Cambria Math" panose="02040503050406030204" pitchFamily="18" charset="0"/>
                  </a:rPr>
                  <a:t>(𝑔𝑛(𝑠))≥𝑔𝑛(𝑠)</a:t>
                </a:r>
                <a:r>
                  <a:rPr lang="en-CA" dirty="0"/>
                  <a:t> </a:t>
                </a:r>
              </a:p>
              <a:p>
                <a:endParaRPr lang="en-CA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05566-49A6-3334-DF0C-76C79FC07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8760F-3DD3-4C3B-9BF2-76AA994DEFC7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3978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6FBE-C0EE-4F3E-24AF-426F1943B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48BC2-4812-5F2E-09A0-CE75C01BA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22BD1-5E6A-11E5-E50E-9C063E6EB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B9A4-4519-46D2-947E-6B31E91E948B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31D26-3D43-34B6-2FD9-5F765E8AB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4DB2B-75E1-5561-854A-F8C619CF4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2F23-359C-4434-BED5-B670F8B1AD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7753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1E0D1-49E1-9FD4-6988-4283FE93F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3B099-122D-C298-9835-829F20FA7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05ACD-0A96-92BD-A589-51E306A94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B9A4-4519-46D2-947E-6B31E91E948B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89F2B-B0C2-F748-0E31-02197B73A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79A01-C040-981D-9097-1543F2E98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2F23-359C-4434-BED5-B670F8B1AD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9251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28814-6305-9112-9A46-37EB06826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0AB66-BF6E-6AF5-1222-82DFCCDD9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472F5-1325-8ACE-AE25-C494370F1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B9A4-4519-46D2-947E-6B31E91E948B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3032B-054F-0525-2818-42D0B50AC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2F4F6-461F-BA9B-63C1-91A79643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2F23-359C-4434-BED5-B670F8B1AD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2277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7053-8AAE-D360-164D-9DE141A34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CEC57-523C-5631-E56D-67E46082C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95BBC-2F8F-6223-9C3B-BA5D63986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97366-A97A-4CA0-B8D0-B963115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B9A4-4519-46D2-947E-6B31E91E948B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12755-789F-055A-D83A-AA995B554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46535-122B-56F1-6D65-A65D782A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2F23-359C-4434-BED5-B670F8B1AD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2347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02AC-CD10-AE0E-2104-51AD8EC79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894A4-529C-9457-7D60-A21E0CB4A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CC70D-0294-154F-00A2-3C0629E3C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BA46DC-B58A-4634-0BDE-255B7EC1C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7BA28-B4B7-5AD9-68D9-69828ACF6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A51FF-22D2-99D8-C0CD-F0BE46EDE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B9A4-4519-46D2-947E-6B31E91E948B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ADBF1E-DC73-EBC8-6462-1BEB992F3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8100CC-AACE-2B35-FA7E-6F7BE0B51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2F23-359C-4434-BED5-B670F8B1AD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908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E025-B208-B9F9-2CB4-58D6C744D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8468F8-9548-C9B8-09DF-7E4418B43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B9A4-4519-46D2-947E-6B31E91E948B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45BF9C-20B7-1F2D-AD76-AADD89BE6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512897-4B97-8424-8DCE-C837DC11E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2F23-359C-4434-BED5-B670F8B1AD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2775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4EABC9-645C-23FB-94DD-CA2357C2C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B9A4-4519-46D2-947E-6B31E91E948B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F99BAD-9A87-C3A6-2DCA-E7206356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7C048-7045-3C97-4E37-DDFAC8E71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2F23-359C-4434-BED5-B670F8B1AD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783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DE52-23C9-B8C0-18BD-C115767C5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40475-12D0-336B-1F75-16C200536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F97F9-5665-9677-7EC1-1C38ABB7B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42EA4-065F-A221-C6C1-F5A065E22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B9A4-4519-46D2-947E-6B31E91E948B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2CD2D-C90E-B328-7892-281FCBCBA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26FB8-804F-A9E1-24C3-BE5A76756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2F23-359C-4434-BED5-B670F8B1AD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1093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76C72-D002-8FB9-2962-41FEBF049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16E8A6-AAF2-02E5-300E-4220184E1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6BF56-07D3-CD42-8C9C-9084ED9DC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DBD9E-A773-AA79-4D49-7C68F94DF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B9A4-4519-46D2-947E-6B31E91E948B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D95BF-4F52-255F-BF7C-054D1340D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24559-A366-6F15-A85A-7BA77C5B1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2F23-359C-4434-BED5-B670F8B1AD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0502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C89E9-CB31-CDB0-1D4E-8D803EA9E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C5EC8-F8CC-1856-4D43-C257A187F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81280-458B-0C35-6A9E-8A6ED2E7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B9A4-4519-46D2-947E-6B31E91E948B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86EB1-5ECB-BE01-AA15-13EE1202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2FF6B-BCBC-8CA8-BF14-A37117A6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2F23-359C-4434-BED5-B670F8B1AD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3267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6CEB13-11C3-DBD4-C4E2-3F516EFFAC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C1CFB-47C8-92AC-B845-571AA07B6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EF3B6-231E-7C8F-FCCB-355361B80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B9A4-4519-46D2-947E-6B31E91E948B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A255E-EA0B-1FA8-4FB4-97286C440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69A71-234E-AB2B-B119-071CF9ED0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2F23-359C-4434-BED5-B670F8B1AD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9497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96D636-6931-E4AF-14A1-B5BC8FB96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B6D3F-924A-0CA4-B875-05A77D2BB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60A39-E35C-A0E5-1192-E02C92917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EB9A4-4519-46D2-947E-6B31E91E948B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F7E3B-6A0D-EA62-0F28-81C6485E5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A2F1D-333F-8F2B-380A-A59D95788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D2F23-359C-4434-BED5-B670F8B1AD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48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79477-1496-7D96-C1FA-9A2399C991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5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EDD26D-86E6-9E7B-2F18-AC1E916FE6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Turing Reducibility</a:t>
            </a:r>
          </a:p>
          <a:p>
            <a:r>
              <a:rPr lang="en-US" sz="1800" dirty="0"/>
              <a:t>And some nice theorems and concepts</a:t>
            </a: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1191557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83D238D-4394-BECB-F3A1-1E524D3478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Turing Reducibility (denoted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  <a:endParaRPr lang="en-CA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83D238D-4394-BECB-F3A1-1E524D3478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4496E3-31B9-9F44-EF3D-61267EF7B6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1353" y="1553227"/>
                <a:ext cx="10885117" cy="462373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Observe how m-reducibility was defined very naturally for sets.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Now we define a concept of reducibility between functions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CA" b="1" dirty="0"/>
                  <a:t>Definition (Turing reducibility): </a:t>
                </a:r>
              </a:p>
              <a:p>
                <a:pPr marL="0" indent="0">
                  <a:buNone/>
                </a:pPr>
                <a:r>
                  <a:rPr lang="en-CA" dirty="0"/>
                  <a:t>We will say that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CA" dirty="0"/>
                  <a:t> is Turing-reducible to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CA" dirty="0"/>
                  <a:t> (and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if we can write a program that uses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to compute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US" dirty="0"/>
                  <a:t>I.e., if we can compute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CA" dirty="0"/>
                  <a:t>, then we can 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It is common to say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-computable to mean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4496E3-31B9-9F44-EF3D-61267EF7B6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1353" y="1553227"/>
                <a:ext cx="10885117" cy="4623736"/>
              </a:xfrm>
              <a:blipFill>
                <a:blip r:embed="rId3"/>
                <a:stretch>
                  <a:fillRect l="-1008" t="-329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813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B68BF-D691-2AA6-3484-C2D5FA78B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Turing Reducibility for sets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F76DAF-7B59-4543-E1CD-81307C03E3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For sets, we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CA" dirty="0"/>
                  <a:t> to mean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CA" dirty="0"/>
                  <a:t>. 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also say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CA" dirty="0"/>
                  <a:t>-decidable (if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CA" dirty="0"/>
                  <a:t> is decidable, then “</a:t>
                </a:r>
                <a14:m>
                  <m:oMath xmlns:m="http://schemas.openxmlformats.org/officeDocument/2006/math">
                    <m:r>
                      <a:rPr lang="en-CA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CA" dirty="0"/>
                  <a:t>-decidable” is the same as just “decidable”). 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F76DAF-7B59-4543-E1CD-81307C03E3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925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EB2BB-0088-CCBF-705C-EB06AAC59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for Turing </a:t>
            </a:r>
            <a:r>
              <a:rPr lang="en-US" dirty="0" err="1"/>
              <a:t>reducibiliby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F2CB63-54FD-E4E6-267D-1CD5FD5A31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Imagine you are writing a program to 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and that program is making use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(as a black box). This is exactly what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means.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It is like saying,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computable (modulo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). So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looks computable except that the program uses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for some inner working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Observe that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are not required to be computable for Turing reducibility to make sense. In fact, the concept of Turing reducibility is interesting particularly when these functions are not computable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F2CB63-54FD-E4E6-267D-1CD5FD5A31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r="-156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646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490FF-6346-6525-DC96-4568E02B1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48B72B-DA49-5752-308B-45FCABDC91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Prove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CA" dirty="0"/>
                  <a:t> but not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Recall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)↓}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Proof: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Hint: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sub>
                    </m:sSub>
                    <m:d>
                      <m:d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sSub>
                      <m:sSub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def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sub>
                    </m:sSub>
                    <m:d>
                      <m:d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CA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     u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CA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     return 1 – u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By CT,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In this example, we call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the </a:t>
                </a:r>
                <a:r>
                  <a:rPr lang="en-US" i="1" dirty="0">
                    <a:solidFill>
                      <a:srgbClr val="FF0000"/>
                    </a:solidFill>
                  </a:rPr>
                  <a:t>oracle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48B72B-DA49-5752-308B-45FCABDC91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08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5733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1E11F9-0D6C-7164-8CFA-27B368E60E5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1E11F9-0D6C-7164-8CFA-27B368E60E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341428-6B44-E701-CD8A-2584B06003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Hint 1: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is semi-decidable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This is because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is the domain of the following function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def F(x):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   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CA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Hint 2: If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CA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is semi-decidable, then 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is semi-decidable. </a:t>
                </a:r>
                <a:r>
                  <a:rPr lang="en-CA" b="1" dirty="0">
                    <a:solidFill>
                      <a:srgbClr val="FF0000"/>
                    </a:solidFill>
                  </a:rPr>
                  <a:t>EXERCISE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341428-6B44-E701-CD8A-2584B06003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4901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297B1-93EA-3A54-3D51-51C373EDB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2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96C222-3256-3ACD-96A9-82F90736D1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CA" dirty="0"/>
                  <a:t>Prove that, for every decidable set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CA" dirty="0"/>
                  <a:t>,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Proof: 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def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  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  <m:r>
                          <m:rPr>
                            <m:nor/>
                          </m:rPr>
                          <a:rPr lang="en-CA" dirty="0">
                            <a:solidFill>
                              <a:srgbClr val="FF0000"/>
                            </a:solidFill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=0:</m:t>
                    </m:r>
                  </m:oMath>
                </a14:m>
                <a:endParaRPr lang="en-CA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        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Or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def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    u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  <m:r>
                          <m:rPr>
                            <m:nor/>
                          </m:rPr>
                          <a:rPr lang="en-CA" dirty="0">
                            <a:solidFill>
                              <a:srgbClr val="FF0000"/>
                            </a:solidFill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   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  <m:r>
                          <m:rPr>
                            <m:nor/>
                          </m:rPr>
                          <a:rPr lang="en-CA" dirty="0">
                            <a:solidFill>
                              <a:srgbClr val="FF0000"/>
                            </a:solidFill>
                          </a:rPr>
                          <m:t> </m:t>
                        </m:r>
                      </m:sub>
                    </m:sSub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can be replaced by any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   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This program computes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acting as if it needs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as an oracle. Making a useless use.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Using the same logic, for any computable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and any function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, one can show that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96C222-3256-3ACD-96A9-82F90736D1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522" t="-2038" b="-149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8704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08D0-4B3A-C353-3564-3C24C0DFF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 (think about it)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886132-EBA6-E8DA-8D49-364A7E24D9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090097" cy="515052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CA" dirty="0"/>
                  <a:t>For any two sets </a:t>
                </a:r>
                <a14:m>
                  <m:oMath xmlns:m="http://schemas.openxmlformats.org/officeDocument/2006/math">
                    <m:r>
                      <a:rPr lang="en-CA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we have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Suppose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via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 (computable)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Hint: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def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CA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CA" i="1" dirty="0">
                    <a:solidFill>
                      <a:srgbClr val="00B050"/>
                    </a:solidFill>
                  </a:rPr>
                  <a:t>     #make use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CA" i="1" dirty="0">
                    <a:solidFill>
                      <a:srgbClr val="00B050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CA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i="1" dirty="0">
                    <a:solidFill>
                      <a:srgbClr val="00B050"/>
                    </a:solidFill>
                  </a:rPr>
                  <a:t>as an oracle)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     u =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   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=1:</m:t>
                    </m:r>
                  </m:oMath>
                </a14:m>
                <a:endParaRPr lang="en-CA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          return 1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     else: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          return 0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      </a:t>
                </a:r>
              </a:p>
              <a:p>
                <a:pPr marL="0" indent="0">
                  <a:buNone/>
                </a:pPr>
                <a:endParaRPr lang="en-CA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886132-EBA6-E8DA-8D49-364A7E24D9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090097" cy="5150528"/>
              </a:xfrm>
              <a:blipFill>
                <a:blip r:embed="rId2"/>
                <a:stretch>
                  <a:fillRect l="-549" t="-201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280E91-A976-0CE7-B186-F8D3727DDD2B}"/>
                  </a:ext>
                </a:extLst>
              </p14:cNvPr>
              <p14:cNvContentPartPr/>
              <p14:nvPr/>
            </p14:nvContentPartPr>
            <p14:xfrm>
              <a:off x="6887520" y="1839960"/>
              <a:ext cx="128880" cy="481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280E91-A976-0CE7-B186-F8D3727DDD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78160" y="1830600"/>
                <a:ext cx="147600" cy="50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7627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6CDE-A4D9-09DA-F828-FE4017B16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3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522F3D-7B29-5046-795B-D65E57EEE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Consider the following notation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)↓</m:t>
                    </m:r>
                  </m:oMath>
                </a14:m>
                <a:r>
                  <a:rPr lang="en-US" dirty="0"/>
                  <a:t> which means that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CA" dirty="0" err="1"/>
                  <a:t>th</a:t>
                </a:r>
                <a:r>
                  <a:rPr lang="en-CA" dirty="0"/>
                  <a:t> Turing machine halts on input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A" dirty="0"/>
                  <a:t> in less than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CA" dirty="0"/>
                  <a:t> steps.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Consider the following 3-ary relation: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)↓}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Is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CA" dirty="0"/>
                  <a:t> decidable?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lvl="0" indent="0">
                  <a:buNone/>
                </a:pPr>
                <a:r>
                  <a:rPr lang="en-CA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)↓}</m:t>
                    </m:r>
                  </m:oMath>
                </a14:m>
                <a:r>
                  <a:rPr lang="en-CA" dirty="0">
                    <a:solidFill>
                      <a:prstClr val="black"/>
                    </a:solidFill>
                    <a:latin typeface="Calibri" panose="020F0502020204030204"/>
                  </a:rPr>
                  <a:t> be the halting relation. Fill the gaps below:</a:t>
                </a:r>
              </a:p>
              <a:p>
                <a:pPr marL="0" lvl="0" indent="0">
                  <a:buNone/>
                </a:pPr>
                <a:endParaRPr lang="en-CA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 ∃…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…, …, …)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Remark: It is a common practice in references to imply from the notation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)↓</m:t>
                    </m:r>
                  </m:oMath>
                </a14:m>
                <a:r>
                  <a:rPr lang="en-US" dirty="0"/>
                  <a:t>  </a:t>
                </a:r>
                <a:r>
                  <a:rPr lang="en-CA" dirty="0"/>
                  <a:t>that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, and the output are all less than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for convenience, but we won’t bother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522F3D-7B29-5046-795B-D65E57EEE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928" t="-2742" b="-78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861A0ED-5782-77ED-9FD2-D042B854A282}"/>
                  </a:ext>
                </a:extLst>
              </p14:cNvPr>
              <p14:cNvContentPartPr/>
              <p14:nvPr/>
            </p14:nvContentPartPr>
            <p14:xfrm>
              <a:off x="1198080" y="1572480"/>
              <a:ext cx="8727120" cy="2236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861A0ED-5782-77ED-9FD2-D042B854A2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8720" y="1563120"/>
                <a:ext cx="8745840" cy="225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263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7392F-2E4D-CF63-E24B-ECE1B08FA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rgbClr val="FF0000"/>
                </a:solidFill>
              </a:rPr>
              <a:t>Activity 3 Remarks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44D0CA-FE3D-4721-A486-8A75872517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96937" cy="45854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“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is decidable” What does this mean?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This means the characteristic function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is computable.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This is equivalent to computably answering the following:</a:t>
                </a:r>
              </a:p>
              <a:p>
                <a:pPr marL="0" indent="0" algn="ctr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Does </a:t>
                </a:r>
                <a:r>
                  <a:rPr lang="en-US" dirty="0" err="1">
                    <a:solidFill>
                      <a:srgbClr val="FF0000"/>
                    </a:solidFill>
                  </a:rPr>
                  <a:t>M_e</a:t>
                </a:r>
                <a:r>
                  <a:rPr lang="en-US" dirty="0">
                    <a:solidFill>
                      <a:srgbClr val="FF0000"/>
                    </a:solidFill>
                  </a:rPr>
                  <a:t> halt on input x in less than s steps?</a:t>
                </a:r>
              </a:p>
              <a:p>
                <a:pPr marL="0" indent="0">
                  <a:buNone/>
                </a:pPr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def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sSup>
                          <m:sSupPr>
                            <m:ctrlPr>
                              <a:rPr lang="en-CA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CA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CA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   k = 0</a:t>
                </a:r>
                <a:br>
                  <a:rPr lang="en-US" dirty="0">
                    <a:solidFill>
                      <a:srgbClr val="FF0000"/>
                    </a:solidFill>
                  </a:rPr>
                </a:br>
                <a:r>
                  <a:rPr lang="en-US" dirty="0">
                    <a:solidFill>
                      <a:srgbClr val="FF0000"/>
                    </a:solidFill>
                  </a:rPr>
                  <a:t>    while k &lt; s: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       simulate k steps of the computation </a:t>
                </a:r>
                <a:r>
                  <a:rPr lang="en-US" dirty="0" err="1">
                    <a:solidFill>
                      <a:srgbClr val="FF0000"/>
                    </a:solidFill>
                  </a:rPr>
                  <a:t>M_e</a:t>
                </a:r>
                <a:r>
                  <a:rPr lang="en-US" dirty="0">
                    <a:solidFill>
                      <a:srgbClr val="FF0000"/>
                    </a:solidFill>
                  </a:rPr>
                  <a:t> on input x</a:t>
                </a:r>
                <a:br>
                  <a:rPr lang="en-US" dirty="0">
                    <a:solidFill>
                      <a:srgbClr val="FF0000"/>
                    </a:solidFill>
                  </a:rPr>
                </a:br>
                <a:r>
                  <a:rPr lang="en-US" dirty="0">
                    <a:solidFill>
                      <a:srgbClr val="FF0000"/>
                    </a:solidFill>
                  </a:rPr>
                  <a:t>        if the computation reached a halting state: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       </a:t>
                </a:r>
                <a:r>
                  <a:rPr lang="en-US" i="1" dirty="0">
                    <a:solidFill>
                      <a:srgbClr val="00B050"/>
                    </a:solidFill>
                  </a:rPr>
                  <a:t>#i.e. not looking for extra instructions to execute</a:t>
                </a:r>
                <a:br>
                  <a:rPr lang="en-US" dirty="0">
                    <a:solidFill>
                      <a:srgbClr val="FF0000"/>
                    </a:solidFill>
                  </a:rPr>
                </a:br>
                <a:r>
                  <a:rPr lang="en-US" dirty="0">
                    <a:solidFill>
                      <a:srgbClr val="FF0000"/>
                    </a:solidFill>
                  </a:rPr>
                  <a:t>              return accept</a:t>
                </a:r>
                <a:br>
                  <a:rPr lang="en-US" dirty="0">
                    <a:solidFill>
                      <a:srgbClr val="FF0000"/>
                    </a:solidFill>
                  </a:rPr>
                </a:br>
                <a:r>
                  <a:rPr lang="en-US" dirty="0">
                    <a:solidFill>
                      <a:srgbClr val="FF0000"/>
                    </a:solidFill>
                  </a:rPr>
                  <a:t>        k += 1</a:t>
                </a:r>
                <a:br>
                  <a:rPr lang="en-US" dirty="0">
                    <a:solidFill>
                      <a:srgbClr val="FF0000"/>
                    </a:solidFill>
                  </a:rPr>
                </a:br>
                <a:r>
                  <a:rPr lang="en-US" dirty="0">
                    <a:solidFill>
                      <a:srgbClr val="FF0000"/>
                    </a:solidFill>
                  </a:rPr>
                  <a:t>    return REJECT</a:t>
                </a:r>
                <a:endParaRPr lang="en-CA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44D0CA-FE3D-4721-A486-8A75872517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96937" cy="4585450"/>
              </a:xfrm>
              <a:blipFill>
                <a:blip r:embed="rId2"/>
                <a:stretch>
                  <a:fillRect l="-748" t="-252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2204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EC3EB-2831-E241-9D4D-A3073B60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4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8070EB-9027-9738-22EA-854085A768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Claim: </a:t>
                </a:r>
                <a:r>
                  <a:rPr lang="en-US" dirty="0"/>
                  <a:t>For an arbitrary natural number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the following set is infinite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: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CA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: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b="1" dirty="0">
                    <a:solidFill>
                      <a:srgbClr val="C00000"/>
                    </a:solidFill>
                  </a:rPr>
                  <a:t>True</a:t>
                </a:r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8070EB-9027-9738-22EA-854085A768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 r="-98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972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ACC1-755B-075A-DC8C-A71AC6F84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5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532BA9-ADE5-A8C8-A15D-4C9FA405C6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Parameter Theorem (also known as </a:t>
                </a:r>
                <a:r>
                  <a:rPr lang="en-US" i="1" dirty="0"/>
                  <a:t>s-m-n</a:t>
                </a:r>
                <a:r>
                  <a:rPr lang="en-US" dirty="0"/>
                  <a:t> theorem):</a:t>
                </a:r>
              </a:p>
              <a:p>
                <a:pPr marL="0" indent="0">
                  <a:buNone/>
                </a:pPr>
                <a:r>
                  <a:rPr lang="en-US" dirty="0"/>
                  <a:t>There is a computable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such that 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Remark: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can be made injective</a:t>
                </a: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532BA9-ADE5-A8C8-A15D-4C9FA405C6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557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695EB-17E4-E503-8413-A282D081F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60EC65-D9F3-AB12-5869-086CBAE556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/>
                      </m:sSub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Claim: </a:t>
                </a:r>
                <a:r>
                  <a:rPr lang="en-US" dirty="0">
                    <a:solidFill>
                      <a:srgbClr val="FF0000"/>
                    </a:solidFill>
                  </a:rPr>
                  <a:t>There exists a computable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such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C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C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  <m:sup/>
                      </m:sSubSup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CA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/>
                      </m:sSub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CA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Basically, we are claiming that there is a computable way to hardcode one of the variables in the function (for a function with two variables)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60EC65-D9F3-AB12-5869-086CBAE556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336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5233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BA26C-6093-BA0B-398B-D21D1CEF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2EEBB-5042-C381-8D57-3C5A9134A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Say we have a computable function  G(</a:t>
            </a:r>
            <a:r>
              <a:rPr lang="en-CA" dirty="0" err="1">
                <a:solidFill>
                  <a:srgbClr val="FF0000"/>
                </a:solidFill>
              </a:rPr>
              <a:t>x,y</a:t>
            </a:r>
            <a:r>
              <a:rPr lang="en-CA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CA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From that function, for every fixed x (arbitrary), using a straightforward procedure, we can compute it as a univariate function H(y) (but obviously, if x changes, H changes, this is why we write it as </a:t>
            </a:r>
            <a:r>
              <a:rPr lang="en-CA" dirty="0" err="1">
                <a:solidFill>
                  <a:srgbClr val="FF0000"/>
                </a:solidFill>
              </a:rPr>
              <a:t>H_x</a:t>
            </a:r>
            <a:r>
              <a:rPr lang="en-CA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CA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Now if we involve indices, say G = </a:t>
            </a:r>
            <a:r>
              <a:rPr lang="en-CA" dirty="0" err="1">
                <a:solidFill>
                  <a:srgbClr val="FF0000"/>
                </a:solidFill>
              </a:rPr>
              <a:t>M_e</a:t>
            </a:r>
            <a:endParaRPr lang="en-CA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Then we know the corresponding index for </a:t>
            </a:r>
            <a:r>
              <a:rPr lang="en-CA" dirty="0" err="1">
                <a:solidFill>
                  <a:srgbClr val="FF0000"/>
                </a:solidFill>
              </a:rPr>
              <a:t>H_x</a:t>
            </a:r>
            <a:r>
              <a:rPr lang="en-CA" dirty="0">
                <a:solidFill>
                  <a:srgbClr val="FF0000"/>
                </a:solidFill>
              </a:rPr>
              <a:t>  must depend on </a:t>
            </a:r>
            <a:r>
              <a:rPr lang="en-CA" dirty="0" err="1">
                <a:solidFill>
                  <a:srgbClr val="FF0000"/>
                </a:solidFill>
              </a:rPr>
              <a:t>e,x</a:t>
            </a:r>
            <a:endParaRPr lang="en-CA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This is why </a:t>
            </a:r>
            <a:r>
              <a:rPr lang="en-CA" dirty="0" err="1">
                <a:solidFill>
                  <a:srgbClr val="FF0000"/>
                </a:solidFill>
              </a:rPr>
              <a:t>H_x</a:t>
            </a:r>
            <a:r>
              <a:rPr lang="en-CA" dirty="0">
                <a:solidFill>
                  <a:srgbClr val="FF0000"/>
                </a:solidFill>
              </a:rPr>
              <a:t> = M_s(</a:t>
            </a:r>
            <a:r>
              <a:rPr lang="en-CA" dirty="0" err="1">
                <a:solidFill>
                  <a:srgbClr val="FF0000"/>
                </a:solidFill>
              </a:rPr>
              <a:t>e,x</a:t>
            </a:r>
            <a:r>
              <a:rPr lang="en-CA" dirty="0">
                <a:solidFill>
                  <a:srgbClr val="FF0000"/>
                </a:solidFill>
              </a:rPr>
              <a:t>) for some function s (which turns to be computable </a:t>
            </a:r>
            <a:r>
              <a:rPr lang="en-CA" b="1" dirty="0">
                <a:solidFill>
                  <a:srgbClr val="FF0000"/>
                </a:solidFill>
              </a:rPr>
              <a:t>by CT </a:t>
            </a:r>
            <a:r>
              <a:rPr lang="en-CA" dirty="0">
                <a:solidFill>
                  <a:srgbClr val="FF0000"/>
                </a:solidFill>
              </a:rPr>
              <a:t>because transitioning from G to </a:t>
            </a:r>
            <a:r>
              <a:rPr lang="en-CA" dirty="0" err="1">
                <a:solidFill>
                  <a:srgbClr val="FF0000"/>
                </a:solidFill>
              </a:rPr>
              <a:t>H_x</a:t>
            </a:r>
            <a:r>
              <a:rPr lang="en-CA" dirty="0">
                <a:solidFill>
                  <a:srgbClr val="FF0000"/>
                </a:solidFill>
              </a:rPr>
              <a:t> can be achieve with a procedure)</a:t>
            </a:r>
          </a:p>
        </p:txBody>
      </p:sp>
    </p:spTree>
    <p:extLst>
      <p:ext uri="{BB962C8B-B14F-4D97-AF65-F5344CB8AC3E}">
        <p14:creationId xmlns:p14="http://schemas.microsoft.com/office/powerpoint/2010/main" val="1865574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B1C01-9504-AD58-D63F-54C840F8B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6 (Defining Randomness of a String)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E29C05-0270-2D12-C913-656E26C9F4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Brainstorming: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CA" dirty="0"/>
                  <a:t> be a string (on whatever alphabet our machines are working with).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CA" dirty="0"/>
                  <a:t> has some sort of useful “detectable” pattern, then it should have a description that is shorter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CA" dirty="0"/>
                  <a:t> itself.  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From a computability perspective: </a:t>
                </a:r>
              </a:p>
              <a:p>
                <a:pPr marL="0" indent="0">
                  <a:buNone/>
                </a:pPr>
                <a:r>
                  <a:rPr lang="en-CA" dirty="0"/>
                  <a:t>There is a program of length shorter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CA" dirty="0"/>
                  <a:t> that can generate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CA" dirty="0"/>
                  <a:t> as an output.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E29C05-0270-2D12-C913-656E26C9F4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387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472B2-DD90-A42E-2AF0-683415136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C90C6-BD13-2130-4125-03227165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5 continued: Kolmogorov Complexity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B11D6B-7EA4-3A39-285B-92C033BA58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Consider the following function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smtClean="0">
                          <a:latin typeface="Cambria Math" panose="02040503050406030204" pitchFamily="18" charset="0"/>
                        </a:rPr>
                        <m:t>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/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Think of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as a string (because TMs output strings)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Think of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“ as: The program with Godel number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prints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Then,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𝓚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is (in some sense) the shortest description of the string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We will say a string </a:t>
                </a:r>
                <a14:m>
                  <m:oMath xmlns:m="http://schemas.openxmlformats.org/officeDocument/2006/math">
                    <m:r>
                      <a:rPr lang="en-CA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is random if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𝓚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Fancier: </a:t>
                </a:r>
                <a14:m>
                  <m:oMath xmlns:m="http://schemas.openxmlformats.org/officeDocument/2006/math">
                    <m:r>
                      <a:rPr lang="en-CA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𝓚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𝑔𝑛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𝑔𝑛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B11D6B-7EA4-3A39-285B-92C033BA58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101" b="-252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9386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D332-7EC6-4E3D-FE44-3062E1F75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7BB4C-3219-478A-0326-E844A2F32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x = 11111111111111111111111 …. 11111111111111111111111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Say 10^100 ones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It is easy to write a program of very few lines (has at most 100 characters) that prints x</a:t>
            </a:r>
          </a:p>
        </p:txBody>
      </p:sp>
    </p:spTree>
    <p:extLst>
      <p:ext uri="{BB962C8B-B14F-4D97-AF65-F5344CB8AC3E}">
        <p14:creationId xmlns:p14="http://schemas.microsoft.com/office/powerpoint/2010/main" val="2631594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93A75-4131-EB0C-F0D3-B906F9FC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Rice’s theorem</a:t>
            </a:r>
            <a:r>
              <a:rPr lang="en-US" dirty="0">
                <a:solidFill>
                  <a:srgbClr val="FF0000"/>
                </a:solidFill>
              </a:rPr>
              <a:t>: 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AED492-0F19-D79B-6BE4-66FFAF2B76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be any class of partial computable functions. Then, the set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={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acts</m:t>
                    </m:r>
                    <m: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as</m:t>
                    </m:r>
                    <m: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function</m:t>
                    </m:r>
                    <m: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from</m:t>
                    </m:r>
                    <m: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is decidable </a:t>
                </a:r>
                <a:r>
                  <a:rPr lang="en-CA" dirty="0" err="1">
                    <a:solidFill>
                      <a:srgbClr val="FF0000"/>
                    </a:solidFill>
                  </a:rPr>
                  <a:t>iff</a:t>
                </a:r>
                <a:r>
                  <a:rPr lang="en-CA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is the class of all partial computable functions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----</a:t>
                </a:r>
              </a:p>
              <a:p>
                <a:pPr marL="0" indent="0">
                  <a:buNone/>
                </a:pPr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A set like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is called an index set. What does an index set mean?</a:t>
                </a:r>
              </a:p>
              <a:p>
                <a:pPr marL="0" indent="0">
                  <a:buNone/>
                </a:pPr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be a set of Godel numbers of some Turing machine. We say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is an index set if the following condition is satisfied:</a:t>
                </a:r>
              </a:p>
              <a:p>
                <a:pPr marL="0" indent="0" algn="ctr">
                  <a:buNone/>
                </a:pPr>
                <a:r>
                  <a:rPr lang="en-CA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, then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must belong to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AED492-0F19-D79B-6BE4-66FFAF2B76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r="-1565" b="-224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547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42AC8-F62D-6209-2AD2-206B59BD7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B1D3D-DE05-5DC2-A4DD-AD0CCC8B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7CFF5-47F2-013E-868C-45D773AE6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Rice’s theorem is</a:t>
            </a:r>
            <a:r>
              <a:rPr lang="en-CA" dirty="0">
                <a:solidFill>
                  <a:srgbClr val="FF0000"/>
                </a:solidFill>
              </a:rPr>
              <a:t> saying that:</a:t>
            </a:r>
          </a:p>
          <a:p>
            <a:pPr marL="0" indent="0" algn="ctr">
              <a:buNone/>
            </a:pPr>
            <a:r>
              <a:rPr lang="en-CA" dirty="0">
                <a:solidFill>
                  <a:srgbClr val="FF0000"/>
                </a:solidFill>
              </a:rPr>
              <a:t>an index set is decidable </a:t>
            </a:r>
            <a:r>
              <a:rPr lang="en-CA" dirty="0" err="1">
                <a:solidFill>
                  <a:srgbClr val="FF0000"/>
                </a:solidFill>
              </a:rPr>
              <a:t>iff</a:t>
            </a:r>
            <a:r>
              <a:rPr lang="en-CA" dirty="0">
                <a:solidFill>
                  <a:srgbClr val="FF0000"/>
                </a:solidFill>
              </a:rPr>
              <a:t> it is trivial </a:t>
            </a:r>
          </a:p>
          <a:p>
            <a:pPr marL="0" indent="0">
              <a:buNone/>
            </a:pPr>
            <a:endParaRPr lang="en-CA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By trivial we mean </a:t>
            </a:r>
            <a:r>
              <a:rPr lang="en-CA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ℕ</a:t>
            </a:r>
            <a:r>
              <a:rPr lang="en-CA" dirty="0">
                <a:solidFill>
                  <a:srgbClr val="FF0000"/>
                </a:solidFill>
              </a:rPr>
              <a:t> or empty</a:t>
            </a:r>
          </a:p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i.e. corresponds to all Turing machines or none at all</a:t>
            </a:r>
          </a:p>
          <a:p>
            <a:pPr marL="0" indent="0">
              <a:buNone/>
            </a:pPr>
            <a:endParaRPr lang="en-CA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Examples of interesting index sets (check the assignment): Tot, Fin</a:t>
            </a:r>
          </a:p>
        </p:txBody>
      </p:sp>
    </p:spTree>
    <p:extLst>
      <p:ext uri="{BB962C8B-B14F-4D97-AF65-F5344CB8AC3E}">
        <p14:creationId xmlns:p14="http://schemas.microsoft.com/office/powerpoint/2010/main" val="1564685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1420</Words>
  <Application>Microsoft Office PowerPoint</Application>
  <PresentationFormat>Widescreen</PresentationFormat>
  <Paragraphs>177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Cambria Math</vt:lpstr>
      <vt:lpstr>Office Theme</vt:lpstr>
      <vt:lpstr>Week 5</vt:lpstr>
      <vt:lpstr>Turing Reducibility (denoted ≤_T)</vt:lpstr>
      <vt:lpstr>Turing Reducibility for sets</vt:lpstr>
      <vt:lpstr>Intuition for Turing reducibiliby</vt:lpstr>
      <vt:lpstr>Activity 1</vt:lpstr>
      <vt:lpstr>K ̅≤_m K ?</vt:lpstr>
      <vt:lpstr>Activity 2</vt:lpstr>
      <vt:lpstr>Remark (think about it)</vt:lpstr>
      <vt:lpstr>Activity 3</vt:lpstr>
      <vt:lpstr>Activity 3 Remarks</vt:lpstr>
      <vt:lpstr>Activity 4</vt:lpstr>
      <vt:lpstr>Activity 5</vt:lpstr>
      <vt:lpstr>PowerPoint Presentation</vt:lpstr>
      <vt:lpstr>PowerPoint Presentation</vt:lpstr>
      <vt:lpstr>Activity 6 (Defining Randomness of a String)</vt:lpstr>
      <vt:lpstr>Activity 5 continued: Kolmogorov Complexity</vt:lpstr>
      <vt:lpstr>Example</vt:lpstr>
      <vt:lpstr>Rice’s theorem: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Mahmoud</dc:creator>
  <cp:lastModifiedBy>Abdul Hadi Khan</cp:lastModifiedBy>
  <cp:revision>14</cp:revision>
  <dcterms:created xsi:type="dcterms:W3CDTF">2025-02-06T22:18:55Z</dcterms:created>
  <dcterms:modified xsi:type="dcterms:W3CDTF">2026-02-18T05:13:20Z</dcterms:modified>
</cp:coreProperties>
</file>